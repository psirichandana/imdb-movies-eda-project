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g15IVxRVF0f/G+gNJ4qrXcse8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50292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INNOMATICS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RESEARCH LABS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82880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INNOVATION. AUTOMATION. ANALYTICS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PROJECT ON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22960" y="347472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IMDb Movies: Data Collection, Data Cleaning</a:t>
            </a:r>
            <a:br>
              <a:rPr b="1" i="0" lang="en-US" sz="2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and Exploratory Data Analysis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828800" y="470916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Presented by: Peddisetti Siri Chandana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85800" y="1325880"/>
            <a:ext cx="77724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B.Tech, GITAM University; graduated in 2022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Why Data Science: Interested in discovering patterns and supporting data-driven decisions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Work experience: </a:t>
            </a:r>
            <a:r>
              <a:rPr lang="en-US" sz="1800">
                <a:solidFill>
                  <a:srgbClr val="232323"/>
                </a:solidFill>
              </a:rPr>
              <a:t>2.5 years of experience at TEKsystems Global Services Pvt. Ltd.</a:t>
            </a:r>
            <a:endParaRPr sz="1800">
              <a:solidFill>
                <a:srgbClr val="232323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LinkedIn: https://www.linkedin.com/in/siri-chandana-peddisetti-2951a6215/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GitHub: https://github.com/Psirichandana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Business Problem &amp; Use Case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Movie audiences, analysts, and content teams need to understand what patterns appear across movie ratings, genres, runtimes, and revenue.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Movie performance is influenced by multiple factors; ratings alone may not explain revenue.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This project uses exploratory data analysis to summarize patterns and compare movie categories.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analysis is descriptive and does not claim that one feature causes another.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Collect movie information from IMDb public datasets.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Clean and prepare movie records for analysis.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Explore ratings, runtimes, release years, genres, and audience votes.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Analyze gross revenue using a separate movie metadata dataset.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Create visualizations and communicate findings with clear limitations.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Data Collection – Sources &amp; Process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94360" y="1325880"/>
            <a:ext cx="3840480" cy="18288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58952" y="1453895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Primary source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758952" y="1892807"/>
            <a:ext cx="351129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IMDb public datasets: title.basics.tsv.gz and title.ratings.tsv.gz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Loaded with Pandas and merged using movie ID.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617720" y="1325880"/>
            <a:ext cx="3840480" cy="18288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4782312" y="1453895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Revenue source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4782312" y="1892807"/>
            <a:ext cx="351129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movie_metadata.csv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 separate IMDb 5000 Movie Dataset copy obtained from GitHub; includes gross, IMDb score, year, duration, genres, and other fields.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94360" y="3474720"/>
            <a:ext cx="7863840" cy="150876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758952" y="3602736"/>
            <a:ext cx="75346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Collection note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758952" y="4041648"/>
            <a:ext cx="753465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This project used downloadable datasets rather than live website scraping. The revenue dataset is separate and was not merged into the much larger primary dataset.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731520" y="52578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Tools: Python, Pandas, Matplotlib, Jupyter Notebook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Summary of the Data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94360" y="1371600"/>
            <a:ext cx="2468880" cy="141732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758952" y="1499616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Primary dataset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758952" y="1938528"/>
            <a:ext cx="21396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313,307 rows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9 columns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337560" y="1371600"/>
            <a:ext cx="2468880" cy="141732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3502152" y="1499616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Revenue subset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3502152" y="1938528"/>
            <a:ext cx="21396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4,124 movies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with gross + rating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080760" y="1371600"/>
            <a:ext cx="2468880" cy="141732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6245352" y="1499616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Primary fields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6245352" y="1938528"/>
            <a:ext cx="21396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Year, runtime, genres,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IMDb rating, votes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685800" y="3291840"/>
            <a:ext cx="7955279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Primary fields: movie_id, movie_title, release_year, runtime_minutes, genres, imdb_rating, num_votes, movie_age, release_period.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Revenue dataset fields include gross, imdb_score, title_year, duration, movie_title, and genres.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datasets have different sizes and coverage, so their results are reported separately.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EDA: Data Cleaning Steps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Removed duplicate movie records and checked duplicate movie IDs.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Converted year, runtime, rating, and vote fields to appropriate numeric types.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Removed rows missing essential fields for the primary analysis.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Kept only positive runtimes in the primary dataset.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For runtime charts, used a separate subset with runtime ≤ 300 minutes; 236 longer-runtime records were excluded from those specific plots.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For revenue analysis, retained records with available gross and IMDb score.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EDA: Data Manipulation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Created movie_age from the release year.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Grouped release years into release_period categories.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Split multi-genre strings into individual genres for genre-level summaries.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Calculated average and median ratings by genre.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Calculated average and median gross revenue by genre in the separate revenue dataset.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Used a sample for selected scatter plots to keep visualizations readable.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EDA: Univariate Analysis</a:t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Examined the distribution of IMDb ratings, runtime, release year, and number of votes.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Used histograms to understand distributions and boxplots to inspect spread and extreme values.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Drama was the most common genre (148,179 genre assignments), followed by Comedy (78,922) and Documentary (54,043).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primary dataset spans release years 1894–2026.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longest runtime values were treated carefully in runtime visualizations.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EDA: Bivariate Analysis</a:t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94360" y="1417320"/>
            <a:ext cx="3840480" cy="15544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758952" y="1545336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Rating vs. gross revenue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758952" y="1984248"/>
            <a:ext cx="35112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Correlation = 0.198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Weak positive linear relationship.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617720" y="1417320"/>
            <a:ext cx="3840480" cy="15544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4782312" y="1545336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Genre and average revenue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4782312" y="1984248"/>
            <a:ext cx="35112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Animation: ~106.95M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Adventure: ~97.83M</a:t>
            </a:r>
            <a:b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Family: ~89.51M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731520" y="3474720"/>
            <a:ext cx="7772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Explored rating versus number of votes and runtime versus rating.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Compared ratings across genres and release periods.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Correlation does not imply causation; revenue is also influenced by other factors.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Key Business Questions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Which genres appear most frequently in the primary IMDb dataset?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How do ratings differ across genres?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Is IMDb rating strongly associated with gross revenue?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Which genres have the highest average gross revenue in the revenue dataset?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Why should revenue and rating be considered alongside other factors?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/>
          </a:p>
        </p:txBody>
      </p:sp>
      <p:sp>
        <p:nvSpPr>
          <p:cNvPr id="248" name="Google Shape;248;p12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50" name="Google Shape;250;p12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Drama is the most frequent genre in the primary dataset.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Documentary has a relatively high average rating among common genres; Horror is comparatively lower.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IMDb rating and gross revenue have a weak positive correlation (0.198).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Animation, Adventure, and Family lead the top 10 genres by average gross revenue in the revenue dataset.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Comedy has the largest count among those top 10 revenue genres, but not the highest average revenue.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Conclusion &amp; Limitations</a:t>
            </a:r>
            <a:endParaRPr/>
          </a:p>
        </p:txBody>
      </p:sp>
      <p:sp>
        <p:nvSpPr>
          <p:cNvPr id="260" name="Google Shape;260;p13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Python and Pandas enabled data cleaning, transformation, summary statistics, and genre-level analysis.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Visualizations helped reveal distributions, category differences, and relationships between variables.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 weak correlation means rating alone is not a reliable explanation of revenue.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two datasets have different sizes and coverage; revenue findings apply only to the available subset.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Gross revenue does not equal profit, and the dataset's revenue scope/currency should be verified from its documentation.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Experience &amp; Challenges</a:t>
            </a: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73" name="Google Shape;273;p14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685800" y="132588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Working with large datasets required careful selection of columns and efficient Pandas operations.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Multi-genre records needed to be split before genre-level comparisons.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Extreme runtime values required separate handling for readable charts.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revenue data had missing values and came from a separate source, so it was analyzed independently.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project reinforced the importance of documenting data sources and interpreting correlations carefully.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0" y="0"/>
            <a:ext cx="164592" cy="91440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164592" y="0"/>
            <a:ext cx="182880" cy="658368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8732520" y="6263640"/>
            <a:ext cx="411480" cy="594360"/>
          </a:xfrm>
          <a:prstGeom prst="parallelogram">
            <a:avLst>
              <a:gd fmla="val 25000" name="adj"/>
            </a:avLst>
          </a:prstGeom>
          <a:solidFill>
            <a:srgbClr val="DA23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8942832" y="6080760"/>
            <a:ext cx="201168" cy="777240"/>
          </a:xfrm>
          <a:prstGeom prst="parallelogram">
            <a:avLst>
              <a:gd fmla="val 25000" name="adj"/>
            </a:avLst>
          </a:prstGeom>
          <a:solidFill>
            <a:srgbClr val="2323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914400" y="2286000"/>
            <a:ext cx="7315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 txBox="1"/>
          <p:nvPr/>
        </p:nvSpPr>
        <p:spPr>
          <a:xfrm>
            <a:off x="6629400" y="644652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A2330"/>
                </a:solidFill>
                <a:latin typeface="Arial"/>
                <a:ea typeface="Arial"/>
                <a:cs typeface="Arial"/>
                <a:sym typeface="Arial"/>
              </a:rPr>
              <a:t>INNOMATICS  |  EDA PROJECT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320040" y="6446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/>
        </p:nvSpPr>
        <p:spPr>
          <a:xfrm>
            <a:off x="822960" y="2194560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A2330"/>
                </a:solidFill>
                <a:latin typeface="Georgia"/>
                <a:ea typeface="Georgia"/>
                <a:cs typeface="Georgia"/>
                <a:sym typeface="Georgia"/>
              </a:rPr>
              <a:t>THANK</a:t>
            </a:r>
            <a:br>
              <a:rPr b="0" i="0" lang="en-US" sz="4200" u="none" cap="none" strike="noStrike">
                <a:solidFill>
                  <a:srgbClr val="DA233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US" sz="4200" u="none" cap="none" strike="noStrike">
                <a:solidFill>
                  <a:srgbClr val="DA2330"/>
                </a:solidFill>
                <a:latin typeface="Georgia"/>
                <a:ea typeface="Georgia"/>
                <a:cs typeface="Georgia"/>
                <a:sym typeface="Georgia"/>
              </a:rPr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